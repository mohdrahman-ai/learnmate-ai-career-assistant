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4" r:id="rId5"/>
    <p:sldId id="285" r:id="rId6"/>
    <p:sldId id="281" r:id="rId7"/>
    <p:sldId id="279" r:id="rId8"/>
    <p:sldId id="287" r:id="rId9"/>
    <p:sldId id="288" r:id="rId10"/>
    <p:sldId id="262" r:id="rId11"/>
    <p:sldId id="264" r:id="rId12"/>
    <p:sldId id="278" r:id="rId13"/>
    <p:sldId id="289" r:id="rId14"/>
    <p:sldId id="286" r:id="rId15"/>
    <p:sldId id="277" r:id="rId16"/>
    <p:sldId id="280"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ohdrahman-ai/LearnMate-AI-Career-Assista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57003" y="145895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92038640"/>
              </p:ext>
            </p:extLst>
          </p:nvPr>
        </p:nvGraphicFramePr>
        <p:xfrm>
          <a:off x="115746" y="1655181"/>
          <a:ext cx="11969744" cy="5023412"/>
        </p:xfrm>
        <a:graphic>
          <a:graphicData uri="http://schemas.openxmlformats.org/drawingml/2006/table">
            <a:tbl>
              <a:tblPr>
                <a:noFill/>
                <a:tableStyleId>{0AAD8F4D-43EB-41E5-8A38-28AB6DFB1B60}</a:tableStyleId>
              </a:tblPr>
              <a:tblGrid>
                <a:gridCol w="2558666">
                  <a:extLst>
                    <a:ext uri="{9D8B030D-6E8A-4147-A177-3AD203B41FA5}">
                      <a16:colId xmlns:a16="http://schemas.microsoft.com/office/drawing/2014/main" val="20000"/>
                    </a:ext>
                  </a:extLst>
                </a:gridCol>
                <a:gridCol w="3137026">
                  <a:extLst>
                    <a:ext uri="{9D8B030D-6E8A-4147-A177-3AD203B41FA5}">
                      <a16:colId xmlns:a16="http://schemas.microsoft.com/office/drawing/2014/main" val="20002"/>
                    </a:ext>
                  </a:extLst>
                </a:gridCol>
                <a:gridCol w="3137026">
                  <a:extLst>
                    <a:ext uri="{9D8B030D-6E8A-4147-A177-3AD203B41FA5}">
                      <a16:colId xmlns:a16="http://schemas.microsoft.com/office/drawing/2014/main" val="20003"/>
                    </a:ext>
                  </a:extLst>
                </a:gridCol>
                <a:gridCol w="3137026">
                  <a:extLst>
                    <a:ext uri="{9D8B030D-6E8A-4147-A177-3AD203B41FA5}">
                      <a16:colId xmlns:a16="http://schemas.microsoft.com/office/drawing/2014/main" val="20004"/>
                    </a:ext>
                  </a:extLst>
                </a:gridCol>
              </a:tblGrid>
              <a:tr h="225597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767442">
                <a:tc>
                  <a:txBody>
                    <a:bodyPr/>
                    <a:lstStyle/>
                    <a:p>
                      <a:pPr marL="0" marR="0" lvl="0" indent="0" algn="l" rtl="0">
                        <a:spcBef>
                          <a:spcPts val="0"/>
                        </a:spcBef>
                        <a:spcAft>
                          <a:spcPts val="0"/>
                        </a:spcAft>
                        <a:buNone/>
                      </a:pPr>
                      <a:endParaRPr lang="en-IN" b="1" dirty="0"/>
                    </a:p>
                    <a:p>
                      <a:pPr marL="0" marR="0" lvl="0" indent="0" algn="l" rtl="0">
                        <a:spcBef>
                          <a:spcPts val="0"/>
                        </a:spcBef>
                        <a:spcAft>
                          <a:spcPts val="0"/>
                        </a:spcAft>
                        <a:buNone/>
                      </a:pPr>
                      <a:endParaRPr lang="en-IN" b="1" dirty="0"/>
                    </a:p>
                    <a:p>
                      <a:pPr marL="0" marR="0" lvl="0" indent="0" algn="ctr" rtl="0">
                        <a:spcBef>
                          <a:spcPts val="0"/>
                        </a:spcBef>
                        <a:spcAft>
                          <a:spcPts val="0"/>
                        </a:spcAft>
                        <a:buNone/>
                      </a:pPr>
                      <a:r>
                        <a:rPr lang="en-IN" sz="2400" b="1" dirty="0"/>
                        <a:t>Mohammed Abdul Rahman</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sz="1600" b="1" dirty="0"/>
                    </a:p>
                    <a:p>
                      <a:pPr marL="0" marR="0" lvl="0" indent="0" algn="ctr" rtl="0">
                        <a:spcBef>
                          <a:spcPts val="0"/>
                        </a:spcBef>
                        <a:spcAft>
                          <a:spcPts val="0"/>
                        </a:spcAft>
                        <a:buNone/>
                      </a:pPr>
                      <a:r>
                        <a:rPr lang="en-IN" sz="1600" b="1" dirty="0"/>
                        <a:t>rahmanabdulmohammed15</a:t>
                      </a:r>
                    </a:p>
                    <a:p>
                      <a:pPr marL="0" marR="0" lvl="0" indent="0" algn="ctr" rtl="0">
                        <a:spcBef>
                          <a:spcPts val="0"/>
                        </a:spcBef>
                        <a:spcAft>
                          <a:spcPts val="0"/>
                        </a:spcAft>
                        <a:buNone/>
                      </a:pPr>
                      <a:r>
                        <a:rPr lang="en-IN" sz="1600" b="1" dirty="0"/>
                        <a:t>@gmail.com</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b="1" dirty="0"/>
                    </a:p>
                    <a:p>
                      <a:pPr marL="0" marR="0" lvl="0" indent="0" algn="ctr" rtl="0">
                        <a:spcBef>
                          <a:spcPts val="0"/>
                        </a:spcBef>
                        <a:spcAft>
                          <a:spcPts val="0"/>
                        </a:spcAft>
                        <a:buNone/>
                      </a:pPr>
                      <a:r>
                        <a:rPr lang="en-IN" sz="2800" b="1" dirty="0"/>
                        <a:t>9963990074</a:t>
                      </a:r>
                      <a:endParaRPr sz="28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690624" y="876588"/>
            <a:ext cx="10280254" cy="461665"/>
          </a:xfrm>
          <a:prstGeom prst="rect">
            <a:avLst/>
          </a:prstGeom>
          <a:noFill/>
        </p:spPr>
        <p:txBody>
          <a:bodyPr wrap="square" rtlCol="0">
            <a:spAutoFit/>
          </a:bodyPr>
          <a:lstStyle/>
          <a:p>
            <a:pPr algn="ctr"/>
            <a:r>
              <a:rPr lang="en-US" sz="2400" b="1" dirty="0"/>
              <a:t>Domain of  Project – Education</a:t>
            </a:r>
            <a:r>
              <a:rPr lang="en-US" sz="2400" b="1" dirty="0">
                <a:highlight>
                  <a:srgbClr val="000000"/>
                </a:highlight>
              </a:rPr>
              <a:t> </a:t>
            </a:r>
            <a:endParaRPr lang="en-IN" sz="2400" b="1" dirty="0">
              <a:highlight>
                <a:srgbClr val="0000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801079" y="294219"/>
            <a:ext cx="10795794" cy="461665"/>
          </a:xfrm>
          <a:prstGeom prst="rect">
            <a:avLst/>
          </a:prstGeom>
          <a:noFill/>
        </p:spPr>
        <p:txBody>
          <a:bodyPr wrap="square" rtlCol="0">
            <a:spAutoFit/>
          </a:bodyPr>
          <a:lstStyle/>
          <a:p>
            <a:r>
              <a:rPr lang="en-US" sz="2400" b="1" dirty="0"/>
              <a:t>Project Title: </a:t>
            </a:r>
            <a:r>
              <a:rPr lang="en-US" sz="2400" b="1" dirty="0" err="1"/>
              <a:t>LearnMate</a:t>
            </a:r>
            <a:r>
              <a:rPr lang="en-US" sz="2400" b="1" dirty="0"/>
              <a:t> – AI Career Assistant </a:t>
            </a:r>
            <a:endParaRPr lang="en-IN" sz="2400" b="1" dirty="0">
              <a:highlight>
                <a:srgbClr val="FFFF00"/>
              </a:highlight>
            </a:endParaRPr>
          </a:p>
        </p:txBody>
      </p:sp>
      <p:pic>
        <p:nvPicPr>
          <p:cNvPr id="3" name="Picture 2">
            <a:extLst>
              <a:ext uri="{FF2B5EF4-FFF2-40B4-BE49-F238E27FC236}">
                <a16:creationId xmlns:a16="http://schemas.microsoft.com/office/drawing/2014/main" id="{09061D80-13F5-AF1F-7949-4D0C8E517F0C}"/>
              </a:ext>
            </a:extLst>
          </p:cNvPr>
          <p:cNvPicPr>
            <a:picLocks noChangeAspect="1"/>
          </p:cNvPicPr>
          <p:nvPr/>
        </p:nvPicPr>
        <p:blipFill>
          <a:blip r:embed="rId3"/>
          <a:stretch>
            <a:fillRect/>
          </a:stretch>
        </p:blipFill>
        <p:spPr>
          <a:xfrm>
            <a:off x="2627453" y="3857395"/>
            <a:ext cx="3090441" cy="2821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r>
              <a:rPr lang="en-US" b="1" dirty="0"/>
              <a:t>Problem Statement : </a:t>
            </a:r>
            <a:r>
              <a:rPr lang="en-US" dirty="0"/>
              <a:t> </a:t>
            </a:r>
            <a:r>
              <a:rPr lang="en-US" b="1" dirty="0"/>
              <a:t>Agentic AI for Personalized Course Pathways</a:t>
            </a:r>
          </a:p>
          <a:p>
            <a:endParaRPr lang="en-US" b="1" dirty="0"/>
          </a:p>
          <a:p>
            <a:r>
              <a:rPr lang="en-US" b="1" dirty="0"/>
              <a:t>The Challenge </a:t>
            </a:r>
          </a:p>
          <a:p>
            <a:r>
              <a:rPr lang="en-US" dirty="0"/>
              <a:t> </a:t>
            </a:r>
            <a:r>
              <a:rPr lang="en-US" sz="1800" dirty="0"/>
              <a:t>Students often struggle to identify the right learning path that aligns with their interests and long-term goals due to the overwhelming number of online courses and a lack of personalized guidance. </a:t>
            </a:r>
            <a:r>
              <a:rPr lang="en-US" sz="1800" dirty="0" err="1"/>
              <a:t>LearnMate</a:t>
            </a:r>
            <a:r>
              <a:rPr lang="en-US" sz="1800" dirty="0"/>
              <a:t> aims to solve this by acting as an Agentic AI coach that understands students, understands their interests (like Frontend Development, Cybersecurity, UI/UX Design, etc.), assesses their current skill level, and dynamically builds a personalized course roadmap that adapts over time based on progress and preferences. </a:t>
            </a:r>
          </a:p>
          <a:p>
            <a:endParaRPr lang="en-US" sz="1800" b="1" dirty="0"/>
          </a:p>
          <a:p>
            <a:r>
              <a:rPr lang="en-US" sz="1800" b="1" dirty="0"/>
              <a:t>Objective</a:t>
            </a:r>
          </a:p>
          <a:p>
            <a:r>
              <a:rPr lang="en-US" sz="1600" dirty="0"/>
              <a:t>The objective of </a:t>
            </a:r>
            <a:r>
              <a:rPr lang="en-US" sz="1600" b="1" dirty="0" err="1"/>
              <a:t>LearnMate</a:t>
            </a:r>
            <a:r>
              <a:rPr lang="en-US" sz="1600" b="1" dirty="0"/>
              <a:t> – AI Career Assistant</a:t>
            </a:r>
            <a:r>
              <a:rPr lang="en-US" sz="1600" dirty="0"/>
              <a:t> is to help students identify suitable career paths and learning opportunities based on their interests, skills, and goals. The system uses </a:t>
            </a:r>
            <a:r>
              <a:rPr lang="en-US" sz="1600" b="1" dirty="0"/>
              <a:t>IBM watsonx.ai, IBM Granite Models, and Agentic AI</a:t>
            </a:r>
            <a:r>
              <a:rPr lang="en-US" sz="1600" dirty="0"/>
              <a:t> to generate personalized learning roadmaps, recommend relevant courses, and provide career guidance. It aims to reduce confusion caused by the large number of available learning resources and enable students to make informed career decisions through an intelligent and interactive AI assistant.</a:t>
            </a:r>
          </a:p>
          <a:p>
            <a:r>
              <a:rPr lang="en-US" sz="1600" b="1" dirty="0"/>
              <a:t>Key Objectives:</a:t>
            </a:r>
            <a:endParaRPr lang="en-US" sz="1600" dirty="0"/>
          </a:p>
          <a:p>
            <a:r>
              <a:rPr lang="en-US" sz="1600" dirty="0"/>
              <a:t>Provide personalized career guidance. </a:t>
            </a:r>
          </a:p>
          <a:p>
            <a:r>
              <a:rPr lang="en-US" sz="1600" dirty="0"/>
              <a:t>Generate customized learning roadmaps. </a:t>
            </a:r>
          </a:p>
          <a:p>
            <a:r>
              <a:rPr lang="en-US" sz="1600" dirty="0"/>
              <a:t>Recommend relevant courses and skill-development resources. </a:t>
            </a:r>
          </a:p>
          <a:p>
            <a:endParaRPr lang="en-US" sz="18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247317"/>
          </a:xfrm>
          <a:prstGeom prst="rect">
            <a:avLst/>
          </a:prstGeom>
          <a:noFill/>
        </p:spPr>
        <p:txBody>
          <a:bodyPr wrap="square" rtlCol="0">
            <a:spAutoFit/>
          </a:bodyPr>
          <a:lstStyle/>
          <a:p>
            <a:pPr fontAlgn="base"/>
            <a:endParaRPr lang="en-US" b="1" dirty="0"/>
          </a:p>
          <a:p>
            <a:pPr fontAlgn="base"/>
            <a:r>
              <a:rPr lang="en-IN" sz="1800" b="1" dirty="0"/>
              <a:t>Tech Stack -</a:t>
            </a:r>
          </a:p>
          <a:p>
            <a:r>
              <a:rPr lang="en-US" b="1" dirty="0" err="1"/>
              <a:t>LangFlow</a:t>
            </a:r>
            <a:r>
              <a:rPr lang="en-US" dirty="0"/>
              <a:t> – Used to design and connect the AI workflow visually. </a:t>
            </a:r>
          </a:p>
          <a:p>
            <a:endParaRPr lang="en-US" dirty="0"/>
          </a:p>
          <a:p>
            <a:r>
              <a:rPr lang="en-US" b="1" dirty="0"/>
              <a:t>IBM watsonx.ai</a:t>
            </a:r>
            <a:r>
              <a:rPr lang="en-US" dirty="0"/>
              <a:t> – Used to access and run foundation models. </a:t>
            </a:r>
          </a:p>
          <a:p>
            <a:endParaRPr lang="en-US" dirty="0"/>
          </a:p>
          <a:p>
            <a:r>
              <a:rPr lang="en-US" b="1" dirty="0"/>
              <a:t>IBM Granite Models</a:t>
            </a:r>
            <a:r>
              <a:rPr lang="en-US" dirty="0"/>
              <a:t> – Used for generating career guidance and personalized learning roadmaps. </a:t>
            </a:r>
          </a:p>
          <a:p>
            <a:endParaRPr lang="en-US" dirty="0"/>
          </a:p>
          <a:p>
            <a:r>
              <a:rPr lang="en-US" b="1" dirty="0"/>
              <a:t>Agentic AI</a:t>
            </a:r>
            <a:r>
              <a:rPr lang="en-US" dirty="0"/>
              <a:t> – Used to provide interactive and intelligent career assistance. </a:t>
            </a:r>
          </a:p>
          <a:p>
            <a:endParaRPr lang="en-US" dirty="0"/>
          </a:p>
          <a:p>
            <a:r>
              <a:rPr lang="en-US" b="1" dirty="0"/>
              <a:t>Prompt Engineering</a:t>
            </a:r>
            <a:r>
              <a:rPr lang="en-US" dirty="0"/>
              <a:t> – Used to create effective prompts for accurate responses. </a:t>
            </a:r>
          </a:p>
          <a:p>
            <a:endParaRPr lang="en-US" dirty="0"/>
          </a:p>
          <a:p>
            <a:r>
              <a:rPr lang="en-US" b="1" dirty="0"/>
              <a:t>GitHub</a:t>
            </a:r>
            <a:r>
              <a:rPr lang="en-US" dirty="0"/>
              <a:t> – Used for project documentation and repository management. </a:t>
            </a:r>
          </a:p>
          <a:p>
            <a:endParaRPr lang="en-US" b="1" dirty="0"/>
          </a:p>
          <a:p>
            <a:r>
              <a:rPr lang="en-US" b="1" dirty="0"/>
              <a:t>I used </a:t>
            </a:r>
            <a:r>
              <a:rPr lang="en-US" b="1" dirty="0" err="1"/>
              <a:t>LangFlow</a:t>
            </a:r>
            <a:r>
              <a:rPr lang="en-US" b="1" dirty="0"/>
              <a:t> + IBM watsonx.ai + IBM Granite Models + Agentic AI</a:t>
            </a:r>
            <a:endParaRPr lang="en-US" dirty="0"/>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24206"/>
          </a:xfrm>
          <a:prstGeom prst="rect">
            <a:avLst/>
          </a:prstGeom>
          <a:noFill/>
        </p:spPr>
        <p:txBody>
          <a:bodyPr wrap="square" rtlCol="0">
            <a:spAutoFit/>
          </a:bodyPr>
          <a:lstStyle/>
          <a:p>
            <a:pPr fontAlgn="base"/>
            <a:endParaRPr lang="en-US" b="1" dirty="0"/>
          </a:p>
          <a:p>
            <a:r>
              <a:rPr lang="en-US" b="1" dirty="0"/>
              <a:t>Proposed Solution: </a:t>
            </a:r>
            <a:r>
              <a:rPr lang="en-US" sz="1800" b="1" dirty="0" err="1"/>
              <a:t>LearnMate</a:t>
            </a:r>
            <a:r>
              <a:rPr lang="en-US" sz="1800" dirty="0"/>
              <a:t> is an AI-powered career and learning assistant that provides personalized learning roadmaps based on user interests, career goals, and current skill levels.</a:t>
            </a:r>
          </a:p>
          <a:p>
            <a:endParaRPr lang="en-US" sz="1800" dirty="0"/>
          </a:p>
          <a:p>
            <a:r>
              <a:rPr lang="en-US" sz="1800" dirty="0"/>
              <a:t>The system:</a:t>
            </a:r>
          </a:p>
          <a:p>
            <a:pPr marL="285750" indent="-285750">
              <a:buFontTx/>
              <a:buChar char="-"/>
            </a:pPr>
            <a:r>
              <a:rPr lang="en-US" sz="1800" dirty="0"/>
              <a:t>Collects user interests and goals </a:t>
            </a:r>
          </a:p>
          <a:p>
            <a:r>
              <a:rPr lang="en-US" sz="1800" dirty="0"/>
              <a:t>- Analyzes skill levels </a:t>
            </a:r>
          </a:p>
          <a:p>
            <a:r>
              <a:rPr lang="en-US" sz="1800" dirty="0"/>
              <a:t>- Generates customized learning pathways </a:t>
            </a:r>
          </a:p>
          <a:p>
            <a:r>
              <a:rPr lang="en-US" sz="1800" dirty="0"/>
              <a:t>- Suggests courses, certifications, and resources </a:t>
            </a:r>
          </a:p>
          <a:p>
            <a:r>
              <a:rPr lang="en-US" sz="1800" dirty="0"/>
              <a:t>- Provides career guidance using IBM Granite models </a:t>
            </a:r>
          </a:p>
          <a:p>
            <a:pPr marL="285750" indent="-285750">
              <a:buFontTx/>
              <a:buChar char="-"/>
            </a:pPr>
            <a:endParaRPr lang="en-US" sz="1800" dirty="0"/>
          </a:p>
          <a:p>
            <a:r>
              <a:rPr lang="en-US" sz="1800" dirty="0"/>
              <a:t>The solution is built using </a:t>
            </a:r>
            <a:r>
              <a:rPr lang="en-US" sz="1800" dirty="0" err="1"/>
              <a:t>LangFlow</a:t>
            </a:r>
            <a:r>
              <a:rPr lang="en-US" sz="1800" dirty="0"/>
              <a:t> and IBM watsonx.ai to deliver intelligent and adaptive learning recommendations.</a:t>
            </a:r>
          </a:p>
          <a:p>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p>
          <a:p>
            <a:pPr marL="0" marR="0" lvl="0" indent="0" algn="l" rtl="0">
              <a:lnSpc>
                <a:spcPct val="100000"/>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5" name="Rectangle 3">
            <a:extLst>
              <a:ext uri="{FF2B5EF4-FFF2-40B4-BE49-F238E27FC236}">
                <a16:creationId xmlns:a16="http://schemas.microsoft.com/office/drawing/2014/main" id="{F7661F00-860E-D6B0-9F7F-9CE688007F46}"/>
              </a:ext>
            </a:extLst>
          </p:cNvPr>
          <p:cNvSpPr>
            <a:spLocks noChangeArrowheads="1"/>
          </p:cNvSpPr>
          <p:nvPr/>
        </p:nvSpPr>
        <p:spPr bwMode="auto">
          <a:xfrm>
            <a:off x="474822" y="966302"/>
            <a:ext cx="113920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1800" b="1" i="0" u="none" strike="noStrike" cap="none" normalizeH="0" baseline="0" dirty="0">
                <a:ln>
                  <a:noFill/>
                </a:ln>
                <a:solidFill>
                  <a:schemeClr val="tx1"/>
                </a:solidFill>
                <a:effectLst/>
                <a:latin typeface="Arial" panose="020B0604020202020204" pitchFamily="34" charset="0"/>
              </a:rPr>
              <a:t>Chat Input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Interface where users enter their career interests, skills, and learning goals.</a:t>
            </a: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Prompt Template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Structures user input into a predefined prompt format for generating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watsonx.ai Component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Processes user queries using IBM Granite foundation models and generates intelligent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IBM Granite Model (</a:t>
            </a:r>
            <a:r>
              <a:rPr kumimoji="0" lang="en-US" altLang="en-US" sz="1800" b="1" i="0" u="none" strike="noStrike" cap="none" normalizeH="0" baseline="0" dirty="0" err="1">
                <a:ln>
                  <a:noFill/>
                </a:ln>
                <a:solidFill>
                  <a:schemeClr val="tx1"/>
                </a:solidFill>
                <a:effectLst/>
                <a:latin typeface="Arial" panose="020B0604020202020204" pitchFamily="34" charset="0"/>
              </a:rPr>
              <a:t>ibm</a:t>
            </a:r>
            <a:r>
              <a:rPr kumimoji="0" lang="en-US" altLang="en-US" sz="1800" b="1" i="0" u="none" strike="noStrike" cap="none" normalizeH="0" baseline="0" dirty="0">
                <a:ln>
                  <a:noFill/>
                </a:ln>
                <a:solidFill>
                  <a:schemeClr val="tx1"/>
                </a:solidFill>
                <a:effectLst/>
                <a:latin typeface="Arial" panose="020B0604020202020204" pitchFamily="34" charset="0"/>
              </a:rPr>
              <a:t>/granite-4-h-small)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Provides AI-powered career recommendations, learning roadmaps, and skill development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Chat 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Displays AI-generated responses, career suggestions, and personalized learning paths.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a:t>
            </a: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1" i="0" u="none" strike="noStrike" cap="none" normalizeH="0" baseline="0" dirty="0">
                <a:ln>
                  <a:noFill/>
                </a:ln>
                <a:solidFill>
                  <a:schemeClr val="tx1"/>
                </a:solidFill>
                <a:effectLst/>
                <a:latin typeface="Arial" panose="020B0604020202020204" pitchFamily="34" charset="0"/>
              </a:rPr>
              <a:t> Visual Workflow</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Connects all components and manages the flow of information between input, AI processing, and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Since you did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use a File/Knowledge Base component in your final workflow, don't mention it. Only include the components actually used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6018458E-C71D-DB36-45EF-181F046AC7B5}"/>
              </a:ext>
            </a:extLst>
          </p:cNvPr>
          <p:cNvPicPr>
            <a:picLocks noChangeAspect="1"/>
          </p:cNvPicPr>
          <p:nvPr/>
        </p:nvPicPr>
        <p:blipFill>
          <a:blip r:embed="rId3"/>
          <a:stretch>
            <a:fillRect/>
          </a:stretch>
        </p:blipFill>
        <p:spPr>
          <a:xfrm>
            <a:off x="1298794" y="963561"/>
            <a:ext cx="10381929" cy="564706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23429-67CC-EDD9-B6E3-C86962329AFF}"/>
              </a:ext>
            </a:extLst>
          </p:cNvPr>
          <p:cNvSpPr txBox="1"/>
          <p:nvPr/>
        </p:nvSpPr>
        <p:spPr>
          <a:xfrm>
            <a:off x="776748" y="285136"/>
            <a:ext cx="3647767" cy="461665"/>
          </a:xfrm>
          <a:prstGeom prst="rect">
            <a:avLst/>
          </a:prstGeom>
          <a:noFill/>
        </p:spPr>
        <p:txBody>
          <a:bodyPr wrap="square" rtlCol="0">
            <a:spAutoFit/>
          </a:bodyPr>
          <a:lstStyle/>
          <a:p>
            <a:r>
              <a:rPr lang="en-IN" sz="2400" b="1" dirty="0" err="1"/>
              <a:t>Langflow</a:t>
            </a:r>
            <a:r>
              <a:rPr lang="en-IN" sz="2400" b="1" dirty="0"/>
              <a:t> Playground</a:t>
            </a:r>
          </a:p>
        </p:txBody>
      </p:sp>
      <p:pic>
        <p:nvPicPr>
          <p:cNvPr id="4" name="Picture 3">
            <a:extLst>
              <a:ext uri="{FF2B5EF4-FFF2-40B4-BE49-F238E27FC236}">
                <a16:creationId xmlns:a16="http://schemas.microsoft.com/office/drawing/2014/main" id="{B35AF029-19EF-3E69-39B0-F053F6A6FD4D}"/>
              </a:ext>
            </a:extLst>
          </p:cNvPr>
          <p:cNvPicPr>
            <a:picLocks noChangeAspect="1"/>
          </p:cNvPicPr>
          <p:nvPr/>
        </p:nvPicPr>
        <p:blipFill>
          <a:blip r:embed="rId2"/>
          <a:stretch>
            <a:fillRect/>
          </a:stretch>
        </p:blipFill>
        <p:spPr>
          <a:xfrm>
            <a:off x="285134" y="746800"/>
            <a:ext cx="11680724" cy="5590499"/>
          </a:xfrm>
          <a:prstGeom prst="rect">
            <a:avLst/>
          </a:prstGeom>
        </p:spPr>
      </p:pic>
    </p:spTree>
    <p:extLst>
      <p:ext uri="{BB962C8B-B14F-4D97-AF65-F5344CB8AC3E}">
        <p14:creationId xmlns:p14="http://schemas.microsoft.com/office/powerpoint/2010/main" val="60432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4E5377-1C7A-5F7B-5832-D704914BDD71}"/>
              </a:ext>
            </a:extLst>
          </p:cNvPr>
          <p:cNvSpPr txBox="1"/>
          <p:nvPr/>
        </p:nvSpPr>
        <p:spPr>
          <a:xfrm>
            <a:off x="589935" y="393291"/>
            <a:ext cx="5250426" cy="461665"/>
          </a:xfrm>
          <a:prstGeom prst="rect">
            <a:avLst/>
          </a:prstGeom>
          <a:noFill/>
        </p:spPr>
        <p:txBody>
          <a:bodyPr wrap="square" rtlCol="0">
            <a:spAutoFit/>
          </a:bodyPr>
          <a:lstStyle/>
          <a:p>
            <a:r>
              <a:rPr lang="en-IN" sz="2400" b="1" dirty="0" err="1"/>
              <a:t>LearnMate</a:t>
            </a:r>
            <a:r>
              <a:rPr lang="en-IN" sz="2400" b="1" dirty="0"/>
              <a:t> Agent</a:t>
            </a:r>
          </a:p>
        </p:txBody>
      </p:sp>
      <p:pic>
        <p:nvPicPr>
          <p:cNvPr id="4" name="Picture 3">
            <a:extLst>
              <a:ext uri="{FF2B5EF4-FFF2-40B4-BE49-F238E27FC236}">
                <a16:creationId xmlns:a16="http://schemas.microsoft.com/office/drawing/2014/main" id="{15F76B70-7109-3592-C957-506CBA457610}"/>
              </a:ext>
            </a:extLst>
          </p:cNvPr>
          <p:cNvPicPr>
            <a:picLocks noChangeAspect="1"/>
          </p:cNvPicPr>
          <p:nvPr/>
        </p:nvPicPr>
        <p:blipFill>
          <a:blip r:embed="rId2"/>
          <a:stretch>
            <a:fillRect/>
          </a:stretch>
        </p:blipFill>
        <p:spPr>
          <a:xfrm>
            <a:off x="452284" y="993058"/>
            <a:ext cx="11474245" cy="5471650"/>
          </a:xfrm>
          <a:prstGeom prst="rect">
            <a:avLst/>
          </a:prstGeom>
        </p:spPr>
      </p:pic>
    </p:spTree>
    <p:extLst>
      <p:ext uri="{BB962C8B-B14F-4D97-AF65-F5344CB8AC3E}">
        <p14:creationId xmlns:p14="http://schemas.microsoft.com/office/powerpoint/2010/main" val="406026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 </a:t>
            </a:r>
            <a:endParaRPr lang="en-US" sz="2400" dirty="0"/>
          </a:p>
        </p:txBody>
      </p:sp>
      <p:pic>
        <p:nvPicPr>
          <p:cNvPr id="4" name="Picture 3">
            <a:extLst>
              <a:ext uri="{FF2B5EF4-FFF2-40B4-BE49-F238E27FC236}">
                <a16:creationId xmlns:a16="http://schemas.microsoft.com/office/drawing/2014/main" id="{40610EF6-DC7D-5680-C2B7-65593B8F1C24}"/>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85648" y="258030"/>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6930" y="1021906"/>
            <a:ext cx="7398510" cy="1384995"/>
          </a:xfrm>
          <a:prstGeom prst="rect">
            <a:avLst/>
          </a:prstGeom>
          <a:noFill/>
        </p:spPr>
        <p:txBody>
          <a:bodyPr wrap="square" rtlCol="0">
            <a:spAutoFit/>
          </a:bodyPr>
          <a:lstStyle/>
          <a:p>
            <a:r>
              <a:rPr lang="en-US" b="1" dirty="0"/>
              <a:t>Role of Agentic AI in </a:t>
            </a:r>
            <a:r>
              <a:rPr lang="en-US" b="1" dirty="0" err="1"/>
              <a:t>LearnMate</a:t>
            </a:r>
            <a:r>
              <a:rPr lang="en-US" b="1" dirty="0"/>
              <a:t> - Agentic AI for Personalized Course Pathways</a:t>
            </a:r>
          </a:p>
          <a:p>
            <a:endParaRPr lang="en-US" b="1" dirty="0"/>
          </a:p>
          <a:p>
            <a:endParaRPr lang="en-US" b="1" dirty="0"/>
          </a:p>
          <a:p>
            <a:endParaRPr lang="en-US" b="1" dirty="0"/>
          </a:p>
          <a:p>
            <a:endParaRPr lang="en-US" b="1" dirty="0"/>
          </a:p>
          <a:p>
            <a:r>
              <a:rPr lang="en-US" b="1" dirty="0"/>
              <a:t>  </a:t>
            </a:r>
          </a:p>
        </p:txBody>
      </p:sp>
      <p:sp>
        <p:nvSpPr>
          <p:cNvPr id="4" name="Rectangle 1">
            <a:extLst>
              <a:ext uri="{FF2B5EF4-FFF2-40B4-BE49-F238E27FC236}">
                <a16:creationId xmlns:a16="http://schemas.microsoft.com/office/drawing/2014/main" id="{60946C6E-F3B1-4D84-C720-7712A466E673}"/>
              </a:ext>
            </a:extLst>
          </p:cNvPr>
          <p:cNvSpPr>
            <a:spLocks noChangeArrowheads="1"/>
          </p:cNvSpPr>
          <p:nvPr/>
        </p:nvSpPr>
        <p:spPr bwMode="auto">
          <a:xfrm>
            <a:off x="137160" y="709870"/>
            <a:ext cx="8559800"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a:t>
            </a:r>
            <a:r>
              <a:rPr kumimoji="0" lang="en-US" altLang="en-US" b="0" i="0" u="none" strike="noStrike" cap="none" normalizeH="0" baseline="0" dirty="0">
                <a:ln>
                  <a:noFill/>
                </a:ln>
                <a:solidFill>
                  <a:schemeClr val="tx1"/>
                </a:solidFill>
                <a:effectLst/>
                <a:latin typeface="Arial" panose="020B0604020202020204" pitchFamily="34" charset="0"/>
              </a:rPr>
              <a:t> acts as the intelligent decision-making engine of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 AI Career Assistant</a:t>
            </a:r>
            <a:r>
              <a:rPr kumimoji="0" lang="en-US" altLang="en-US" b="0" i="0" u="none" strike="noStrike" cap="none" normalizeH="0" baseline="0" dirty="0">
                <a:ln>
                  <a:noFill/>
                </a:ln>
                <a:solidFill>
                  <a:schemeClr val="tx1"/>
                </a:solidFill>
                <a:effectLst/>
                <a:latin typeface="Arial" panose="020B0604020202020204" pitchFamily="34" charset="0"/>
              </a:rPr>
              <a:t>. Instead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of providing generic answers, it analyzes user inputs such as interests, skills, learning preferences, and career goals to deliver personalized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Roles of Agentic AI -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Personalized Career Guidance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Understands user interests and recommends suitable career paths. </a:t>
            </a:r>
            <a:endParaRPr lang="en-US" altLang="en-US"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Dynamic Learning Roadmaps</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Creates customized learning plans based on the user's current skill level and goals.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Intelligent Decision-Making</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Evaluates user requirements and generates relevant course and skill recommendations.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Interactive AI Mentor</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Engages in natural conversations and answers career-related queries in real time.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Goal-Oriented Assistance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Helps users identify skill gaps and suggests actions to achieve career objectives.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b="1" i="0" u="none" strike="noStrike" cap="none" normalizeH="0" baseline="0" dirty="0">
                <a:ln>
                  <a:noFill/>
                </a:ln>
                <a:solidFill>
                  <a:schemeClr val="tx1"/>
                </a:solidFill>
                <a:effectLst/>
                <a:latin typeface="Arial" panose="020B0604020202020204" pitchFamily="34" charset="0"/>
              </a:rPr>
              <a:t>Continuous Adaptation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Adjusts recommendations based on new user inputs and changing preferences.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 enables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to function as a personalized virtual career mentor that guides</a:t>
            </a: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users in choosing career paths, acquiring skills, and achieving their professional goals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through intelligent and adaptive recommendations.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204A671-EA16-2B10-C4D4-61158164CA74}"/>
              </a:ext>
            </a:extLst>
          </p:cNvPr>
          <p:cNvPicPr>
            <a:picLocks noChangeAspect="1"/>
          </p:cNvPicPr>
          <p:nvPr/>
        </p:nvPicPr>
        <p:blipFill>
          <a:blip r:embed="rId3"/>
          <a:stretch>
            <a:fillRect/>
          </a:stretch>
        </p:blipFill>
        <p:spPr>
          <a:xfrm>
            <a:off x="8473440" y="182880"/>
            <a:ext cx="3581400" cy="6593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72440" y="305476"/>
            <a:ext cx="8046720" cy="584775"/>
          </a:xfrm>
          <a:prstGeom prst="rect">
            <a:avLst/>
          </a:prstGeom>
          <a:noFill/>
        </p:spPr>
        <p:txBody>
          <a:bodyPr wrap="square" rtlCol="0">
            <a:spAutoFit/>
          </a:bodyPr>
          <a:lstStyle/>
          <a:p>
            <a:r>
              <a:rPr lang="en-US" sz="3200" b="1" dirty="0"/>
              <a:t>Technology Used -</a:t>
            </a:r>
            <a:endParaRPr lang="en-IN" sz="32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
        <p:nvSpPr>
          <p:cNvPr id="4" name="Rectangle 1">
            <a:extLst>
              <a:ext uri="{FF2B5EF4-FFF2-40B4-BE49-F238E27FC236}">
                <a16:creationId xmlns:a16="http://schemas.microsoft.com/office/drawing/2014/main" id="{B9D40445-49C0-5AC9-9049-0852E3EC2AC8}"/>
              </a:ext>
            </a:extLst>
          </p:cNvPr>
          <p:cNvSpPr>
            <a:spLocks noChangeArrowheads="1"/>
          </p:cNvSpPr>
          <p:nvPr/>
        </p:nvSpPr>
        <p:spPr bwMode="auto">
          <a:xfrm>
            <a:off x="0" y="946297"/>
            <a:ext cx="12192000" cy="5606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LangFlow</a:t>
            </a:r>
            <a:r>
              <a:rPr kumimoji="0" lang="en-US" altLang="en-US" sz="2400" b="0" i="0" u="none" strike="noStrike" cap="none" normalizeH="0" baseline="0" dirty="0">
                <a:ln>
                  <a:noFill/>
                </a:ln>
                <a:solidFill>
                  <a:schemeClr val="tx1"/>
                </a:solidFill>
                <a:effectLst/>
                <a:latin typeface="Arial" panose="020B0604020202020204" pitchFamily="34" charset="0"/>
              </a:rPr>
              <a:t> – Visual workflow builder for designing AI agent pipelines.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watsonx.ai</a:t>
            </a:r>
            <a:r>
              <a:rPr kumimoji="0" lang="en-US" altLang="en-US" sz="2400" b="0" i="0" u="none" strike="noStrike" cap="none" normalizeH="0" baseline="0" dirty="0">
                <a:ln>
                  <a:noFill/>
                </a:ln>
                <a:solidFill>
                  <a:schemeClr val="tx1"/>
                </a:solidFill>
                <a:effectLst/>
                <a:latin typeface="Arial" panose="020B0604020202020204" pitchFamily="34" charset="0"/>
              </a:rPr>
              <a:t> – Foundation model platform used for AI inference and response generation.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Granite Models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1" u="none" strike="noStrike" cap="none" normalizeH="0" baseline="0" dirty="0">
                <a:ln>
                  <a:noFill/>
                </a:ln>
                <a:solidFill>
                  <a:schemeClr val="tx1"/>
                </a:solidFill>
                <a:effectLst/>
                <a:latin typeface="Arial" panose="020B0604020202020204" pitchFamily="34" charset="0"/>
              </a:rPr>
              <a:t>(</a:t>
            </a:r>
            <a:r>
              <a:rPr kumimoji="0" lang="en-US" altLang="en-US" sz="2400" b="0" i="1" u="none" strike="noStrike" cap="none" normalizeH="0" baseline="0" dirty="0" err="1">
                <a:ln>
                  <a:noFill/>
                </a:ln>
                <a:solidFill>
                  <a:schemeClr val="tx1"/>
                </a:solidFill>
                <a:effectLst/>
                <a:latin typeface="Arial" panose="020B0604020202020204" pitchFamily="34" charset="0"/>
              </a:rPr>
              <a:t>ibm</a:t>
            </a:r>
            <a:r>
              <a:rPr kumimoji="0" lang="en-US" altLang="en-US" sz="2400" b="0" i="1" u="none" strike="noStrike" cap="none" normalizeH="0" baseline="0" dirty="0">
                <a:ln>
                  <a:noFill/>
                </a:ln>
                <a:solidFill>
                  <a:schemeClr val="tx1"/>
                </a:solidFill>
                <a:effectLst/>
                <a:latin typeface="Arial" panose="020B0604020202020204" pitchFamily="34" charset="0"/>
              </a:rPr>
              <a:t>/granite-4-h-small)</a:t>
            </a:r>
            <a:r>
              <a:rPr kumimoji="0" lang="en-US" altLang="en-US" sz="2400" b="0" i="0" u="none" strike="noStrike" cap="none" normalizeH="0" baseline="0" dirty="0">
                <a:ln>
                  <a:noFill/>
                </a:ln>
                <a:solidFill>
                  <a:schemeClr val="tx1"/>
                </a:solidFill>
                <a:effectLst/>
                <a:latin typeface="Arial" panose="020B0604020202020204" pitchFamily="34" charset="0"/>
              </a:rPr>
              <a:t> – Large Language Model used for career guidance and roadmap generation.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Agentic AI</a:t>
            </a:r>
            <a:r>
              <a:rPr kumimoji="0" lang="en-US" altLang="en-US" sz="2400" b="0" i="0" u="none" strike="noStrike" cap="none" normalizeH="0" baseline="0" dirty="0">
                <a:ln>
                  <a:noFill/>
                </a:ln>
                <a:solidFill>
                  <a:schemeClr val="tx1"/>
                </a:solidFill>
                <a:effectLst/>
                <a:latin typeface="Arial" panose="020B0604020202020204" pitchFamily="34" charset="0"/>
              </a:rPr>
              <a:t> – Enables intelligent decision-making and personalized recommendations.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Prompt Engineering</a:t>
            </a:r>
            <a:r>
              <a:rPr kumimoji="0" lang="en-US" altLang="en-US" sz="2400" b="0" i="0" u="none" strike="noStrike" cap="none" normalizeH="0" baseline="0" dirty="0">
                <a:ln>
                  <a:noFill/>
                </a:ln>
                <a:solidFill>
                  <a:schemeClr val="tx1"/>
                </a:solidFill>
                <a:effectLst/>
                <a:latin typeface="Arial" panose="020B0604020202020204" pitchFamily="34" charset="0"/>
              </a:rPr>
              <a:t> – Structures user queries to improve AI responses.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GitHub</a:t>
            </a:r>
            <a:r>
              <a:rPr kumimoji="0" lang="en-US" altLang="en-US" sz="2400" b="0" i="0" u="none" strike="noStrike" cap="none" normalizeH="0" baseline="0" dirty="0">
                <a:ln>
                  <a:noFill/>
                </a:ln>
                <a:solidFill>
                  <a:schemeClr val="tx1"/>
                </a:solidFill>
                <a:effectLst/>
                <a:latin typeface="Arial" panose="020B0604020202020204" pitchFamily="34" charset="0"/>
              </a:rPr>
              <a:t> – Version control and project repository management.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Cloud Lite</a:t>
            </a:r>
            <a:r>
              <a:rPr kumimoji="0" lang="en-US" altLang="en-US" sz="2400" b="0" i="0" u="none" strike="noStrike" cap="none" normalizeH="0" baseline="0" dirty="0">
                <a:ln>
                  <a:noFill/>
                </a:ln>
                <a:solidFill>
                  <a:schemeClr val="tx1"/>
                </a:solidFill>
                <a:effectLst/>
                <a:latin typeface="Arial" panose="020B0604020202020204" pitchFamily="34" charset="0"/>
              </a:rPr>
              <a:t> – Cloud platform used to access IBM AI services. </a:t>
            </a:r>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75DCB-4214-37C0-FAF6-21DE5AC6A66B}"/>
              </a:ext>
            </a:extLst>
          </p:cNvPr>
          <p:cNvSpPr txBox="1"/>
          <p:nvPr/>
        </p:nvSpPr>
        <p:spPr>
          <a:xfrm>
            <a:off x="1032388" y="353963"/>
            <a:ext cx="4395018" cy="461665"/>
          </a:xfrm>
          <a:prstGeom prst="rect">
            <a:avLst/>
          </a:prstGeom>
          <a:noFill/>
        </p:spPr>
        <p:txBody>
          <a:bodyPr wrap="square" rtlCol="0">
            <a:spAutoFit/>
          </a:bodyPr>
          <a:lstStyle/>
          <a:p>
            <a:r>
              <a:rPr lang="en-IN" sz="2400" b="1" dirty="0"/>
              <a:t>Tokens</a:t>
            </a:r>
          </a:p>
        </p:txBody>
      </p:sp>
      <p:pic>
        <p:nvPicPr>
          <p:cNvPr id="4" name="Picture 3">
            <a:extLst>
              <a:ext uri="{FF2B5EF4-FFF2-40B4-BE49-F238E27FC236}">
                <a16:creationId xmlns:a16="http://schemas.microsoft.com/office/drawing/2014/main" id="{190C69D2-A423-5C1F-E4E3-4705D1C57C31}"/>
              </a:ext>
            </a:extLst>
          </p:cNvPr>
          <p:cNvPicPr>
            <a:picLocks noChangeAspect="1"/>
          </p:cNvPicPr>
          <p:nvPr/>
        </p:nvPicPr>
        <p:blipFill>
          <a:blip r:embed="rId2"/>
          <a:stretch>
            <a:fillRect/>
          </a:stretch>
        </p:blipFill>
        <p:spPr>
          <a:xfrm>
            <a:off x="304800" y="943896"/>
            <a:ext cx="11611897" cy="5560141"/>
          </a:xfrm>
          <a:prstGeom prst="rect">
            <a:avLst/>
          </a:prstGeom>
        </p:spPr>
      </p:pic>
    </p:spTree>
    <p:extLst>
      <p:ext uri="{BB962C8B-B14F-4D97-AF65-F5344CB8AC3E}">
        <p14:creationId xmlns:p14="http://schemas.microsoft.com/office/powerpoint/2010/main" val="491697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73380" y="0"/>
            <a:ext cx="10866120" cy="1323439"/>
          </a:xfrm>
          <a:prstGeom prst="rect">
            <a:avLst/>
          </a:prstGeom>
          <a:noFill/>
        </p:spPr>
        <p:txBody>
          <a:bodyPr wrap="square" rtlCol="0">
            <a:spAutoFit/>
          </a:bodyPr>
          <a:lstStyle/>
          <a:p>
            <a:pPr algn="ctr"/>
            <a:r>
              <a:rPr lang="en-US" sz="2800" b="1" dirty="0"/>
              <a:t>Novelty and Uniqueness</a:t>
            </a:r>
          </a:p>
          <a:p>
            <a:pPr algn="ctr"/>
            <a:endParaRPr lang="en-US" sz="2800" b="1" dirty="0"/>
          </a:p>
          <a:p>
            <a:endParaRPr lang="en-IN" sz="2400" b="1" dirty="0"/>
          </a:p>
        </p:txBody>
      </p:sp>
      <p:sp>
        <p:nvSpPr>
          <p:cNvPr id="4" name="Rectangle 1">
            <a:extLst>
              <a:ext uri="{FF2B5EF4-FFF2-40B4-BE49-F238E27FC236}">
                <a16:creationId xmlns:a16="http://schemas.microsoft.com/office/drawing/2014/main" id="{B7293269-1444-4B56-48EC-4A6BED384A2F}"/>
              </a:ext>
            </a:extLst>
          </p:cNvPr>
          <p:cNvSpPr>
            <a:spLocks noChangeArrowheads="1"/>
          </p:cNvSpPr>
          <p:nvPr/>
        </p:nvSpPr>
        <p:spPr bwMode="auto">
          <a:xfrm rot="10800000" flipV="1">
            <a:off x="0" y="177061"/>
            <a:ext cx="12192000"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Novelty &amp; Uniqueness of </a:t>
            </a:r>
            <a:r>
              <a:rPr kumimoji="0" lang="en-US" altLang="en-US" sz="1800" b="1" i="0" u="none" strike="noStrike" cap="none" normalizeH="0" baseline="0" dirty="0" err="1">
                <a:ln>
                  <a:noFill/>
                </a:ln>
                <a:solidFill>
                  <a:schemeClr val="tx1"/>
                </a:solidFill>
                <a:effectLst/>
                <a:latin typeface="Arial" panose="020B0604020202020204" pitchFamily="34" charset="0"/>
              </a:rPr>
              <a:t>LearnMate</a:t>
            </a:r>
            <a:r>
              <a:rPr kumimoji="0" lang="en-US" altLang="en-US" sz="1800" b="1" i="0" u="none" strike="noStrike" cap="none" normalizeH="0" baseline="0" dirty="0">
                <a:ln>
                  <a:noFill/>
                </a:ln>
                <a:solidFill>
                  <a:schemeClr val="tx1"/>
                </a:solidFill>
                <a:effectLst/>
                <a:latin typeface="Arial" panose="020B0604020202020204" pitchFamily="34" charset="0"/>
              </a:rPr>
              <a:t> – AI Career Assistant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Agentic AI-Based Career Mentor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Unlike traditional chatbots that provide generic answers, </a:t>
            </a: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acts as an intelligent AI agent that understands user goals, interests, and skill levels to provide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Personalized Learning Roadmaps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dynamically generates customized learning pathways based on the user's career aspirations.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Granite Powered Intelligence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leverages IBM Granite Models through IBM watsonx.ai to deliver accurate goal-oriented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Interactive Career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platform helps users identify suitable career paths such 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&amp; Machine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Science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UI/UX Design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suggests the required skills for each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Skill Gap Identification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AI analyzes the user's current skills and highlights missing competencies required to achieve their desired career goals.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33681" y="66710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a:t>
            </a:r>
          </a:p>
          <a:p>
            <a:pPr lvl="0">
              <a:lnSpc>
                <a:spcPct val="157142"/>
              </a:lnSpc>
              <a:buClr>
                <a:srgbClr val="051D3A"/>
              </a:buClr>
              <a:buSzPts val="3500"/>
            </a:pPr>
            <a:r>
              <a:rPr lang="en-US" sz="2400" dirty="0">
                <a:sym typeface="Times New Roman"/>
                <a:hlinkClick r:id="rId3"/>
              </a:rPr>
              <a:t>https://github.com/mohdrahman-ai/LearnMate-AI-Career-Assistant</a:t>
            </a:r>
            <a:endParaRPr lang="en-US" sz="2400" dirty="0">
              <a:sym typeface="Times New Roman"/>
            </a:endParaRPr>
          </a:p>
          <a:p>
            <a:pPr lvl="0">
              <a:lnSpc>
                <a:spcPct val="157142"/>
              </a:lnSpc>
              <a:buClr>
                <a:srgbClr val="051D3A"/>
              </a:buClr>
              <a:buSzPts val="3500"/>
            </a:pPr>
            <a:endParaRPr lang="en-US" sz="2400"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104172"/>
            <a:ext cx="9082744" cy="1592315"/>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41CD55B2-0DE7-1205-C205-BC501CC2D58C}"/>
              </a:ext>
            </a:extLst>
          </p:cNvPr>
          <p:cNvSpPr>
            <a:spLocks noChangeArrowheads="1"/>
          </p:cNvSpPr>
          <p:nvPr/>
        </p:nvSpPr>
        <p:spPr bwMode="auto">
          <a:xfrm rot="10800000" flipV="1">
            <a:off x="162046" y="217202"/>
            <a:ext cx="1184090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Online Learning Platforms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integrated with platforms such as Coursera, edX, Udemy, and IBM </a:t>
            </a:r>
            <a:r>
              <a:rPr kumimoji="0" lang="en-US" altLang="en-US" sz="1800" b="0" i="0" u="none" strike="noStrike" cap="none" normalizeH="0" baseline="0" dirty="0" err="1">
                <a:ln>
                  <a:noFill/>
                </a:ln>
                <a:solidFill>
                  <a:schemeClr val="tx1"/>
                </a:solidFill>
                <a:effectLst/>
                <a:latin typeface="Arial" panose="020B0604020202020204" pitchFamily="34" charset="0"/>
              </a:rPr>
              <a:t>SkillsBuild</a:t>
            </a:r>
            <a:r>
              <a:rPr kumimoji="0" lang="en-US" altLang="en-US" sz="1800" b="0" i="0" u="none" strike="noStrike" cap="none" normalizeH="0" baseline="0" dirty="0">
                <a:ln>
                  <a:noFill/>
                </a:ln>
                <a:solidFill>
                  <a:schemeClr val="tx1"/>
                </a:solidFill>
                <a:effectLst/>
                <a:latin typeface="Arial" panose="020B0604020202020204" pitchFamily="34" charset="0"/>
              </a:rPr>
              <a:t> to automatically recommend relevant courses and certifications.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Skill Assessment and Progress Tracking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versions can include quizzes, assessments, and progress tracking dashboards to monitor users' learning journeys and skill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AI-Powered Resume and Portfolio Builder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generate professional resumes, portfolios, and LinkedIn profile suggestions based on user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Job and Internship Recommendations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enhanced to provide personalized job, internship, and placement opportunities based on user profiles and career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Multi-Language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Adding support for multiple languages will make the platform accessible to a wider audience.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Voice-Based Career Assistant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Voice interaction capabilities can enable users to communicate naturally with the AI assistant using speech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TotalTime>
  <Words>1226</Words>
  <Application>Microsoft Office PowerPoint</Application>
  <PresentationFormat>Widescreen</PresentationFormat>
  <Paragraphs>185</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Mohammed Abdul Rahman</cp:lastModifiedBy>
  <cp:revision>25</cp:revision>
  <dcterms:created xsi:type="dcterms:W3CDTF">2025-07-08T05:06:56Z</dcterms:created>
  <dcterms:modified xsi:type="dcterms:W3CDTF">2026-06-02T14:10:25Z</dcterms:modified>
</cp:coreProperties>
</file>